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OEd+9aniIG/qz2MLpjrm+k2Yf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jp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.jp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722600" y="1063825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8826416" y="2473681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-1330372" y="648625"/>
            <a:ext cx="4893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75" y="851525"/>
            <a:ext cx="8290800" cy="5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lang="en-US" sz="2400">
                <a:solidFill>
                  <a:schemeClr val="dk1"/>
                </a:solidFill>
              </a:rPr>
              <a:t>SIH26051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chemeClr val="dk1"/>
                </a:solidFill>
              </a:rPr>
              <a:t>Software Based Model Development for Design of Area Specific Shelter for Thermal Comfort Maintenance.</a:t>
            </a:r>
            <a:endParaRPr sz="2400"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</a:t>
            </a:r>
            <a:r>
              <a:rPr lang="en-US" sz="2400">
                <a:solidFill>
                  <a:srgbClr val="212529"/>
                </a:solidFill>
              </a:rPr>
              <a:t>Miscellaneous</a:t>
            </a:r>
            <a:endParaRPr sz="2800"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</a:t>
            </a:r>
            <a:r>
              <a:rPr lang="en-US" sz="2400">
                <a:solidFill>
                  <a:schemeClr val="dk1"/>
                </a:solidFill>
              </a:rPr>
              <a:t>Software</a:t>
            </a:r>
            <a:endParaRPr sz="2400">
              <a:solidFill>
                <a:schemeClr val="dk1"/>
              </a:solidFill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(Registered on portal)- </a:t>
            </a:r>
            <a:r>
              <a:rPr lang="en-US" sz="2400">
                <a:solidFill>
                  <a:schemeClr val="dk1"/>
                </a:solidFill>
              </a:rPr>
              <a:t>INFINITY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99" name="Shape 99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0" name="Google Shape;100;p2"/>
          <ns0:cNvSpPr/>
          <ns0:nvPr/>
        </ns0:nvSpPr>
        <ns0:spPr>
          <ns1:xfrm>
            <ns1:off x="0" y="6354762"/>
            <ns1:ext cx="12191999" cy="503238"/>
          </ns1:xfrm>
          <ns1:prstGeom prst="rect">
            <ns1:avLst/>
          </ns1:prstGeom>
          <ns1:solidFill>
            <ns1:srgbClr val="0070C0"/>
          </ns1:solidFill>
          <ns1:ln>
            <ns1:noFill/>
          </ns1:ln>
          <ns1:effectLst>
            <ns1:outerShdw rotWithShape="0" dir="5400000" dist="23000">
              <ns1:srgbClr val="808080">
                <ns1:alpha val="34902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>ThermoShelter — Passive Solar Simulator &amp; Thermal Optimization Platform</ns1:t>
            </ns1:r>
            <ns1:endParaRPr sz="1800">
              <ns1:solidFill>
                <ns1:srgbClr val="953734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01" name="Google Shape;101;p2"/>
          <ns0:cNvSpPr txBox="1"/>
          <ns0:nvPr>
            <ns0:ph type="title"/>
          </ns0:nvPr>
        </ns0:nvSpPr>
        <ns0:spPr>
          <ns1:xfrm>
            <ns1:off x="182998" y="0"/>
            <ns1:ext cx="10972800" cy="11430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rtl="0" algn="ctr">
              <ns1:spcBef>
                <ns1:spcPts val="0"/>
              </ns1:spcBef>
              <ns1:spcAft>
                <ns1:spcPts val="0"/>
              </ns1:spcAft>
              <ns1:buNone/>
            </ns1:pPr>
            <ns1:br>
              <ns1:rPr b="1" lang="en-US" sz="3600">
                <ns1:latin typeface="Times New Roman"/>
                <ns1:ea typeface="Times New Roman"/>
                <ns1:cs typeface="Times New Roman"/>
                <ns1:sym typeface="Times New Roman"/>
              </ns1:rPr>
            </ns1:br>
            <ns1:r>
              <ns1:rPr b="1" lang="en-US" sz="3600">
                <ns1:latin typeface="Times New Roman"/>
                <ns1:ea typeface="Times New Roman"/>
                <ns1:cs typeface="Times New Roman"/>
                <ns1:sym typeface="Times New Roman"/>
              </ns1:rPr>
              <ns1:t>Real-Time Cold-Arid Microclimate Simulator: Diurnal solar &amp; ambient weather integration for Leh/Ladakh.</ns1:t>
            </ns1:r>
            <ns1:endParaRPr/>
          </ns1:p>
        </ns0:txBody>
      </ns0:sp>
      <ns0:sp>
        <ns0:nvSpPr>
          <ns0:cNvPr id="102" name="Google Shape;102;p2"/>
          <ns0:cNvSpPr txBox="1"/>
          <ns0:nvPr/>
        </ns0:nvSpPr>
        <ns0:spPr>
          <ns1:xfrm>
            <ns1:off x="-1" y="2064921"/>
            <ns1:ext cx="12191999" cy="249299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45700" lIns="91425" spcFirstLastPara="1" rIns="91425" wrap="square" tIns="45700">
            <ns1:spAutoFit/>
          </ns1:bodyPr>
          <ns1:lstStyle/>
          <ns1:p>
            <ns1:pPr indent="-342900" lvl="0" marL="342900" marR="0" rtl="0" algn="l">
              <ns1:spcBef>
                <ns1:spcPts val="0"/>
              </ns1:spcBef>
              <ns1:spcAft>
                <ns1:spcPts val="0"/>
              </ns1:spcAft>
              <ns1:buClr>
                <ns1:schemeClr val="dk2"/>
              </ns1:buClr>
              <ns1:buSzPts val="3200"/>
              <ns1:buFont typeface="Noto Sans Symbols"/>
              <ns1:buChar char="❖"/>
            </ns1:pPr>
            <ns1:r>
              <ns1:rPr b="1" lang="en-US" sz="3200" u="sng">
                <ns1:solidFill>
                  <ns1:schemeClr val="dk2"/>
                </ns1:solidFill>
                <ns1:latin typeface="Arial"/>
                <ns1:ea typeface="Arial"/>
                <ns1:cs typeface="Arial"/>
                <ns1:sym typeface="Arial"/>
              </ns1:rPr>
              <ns1:t>Interactive Multi-Story Envelope Builder: Ground + 1st Floor customizable walls, roofs, floors, glazing, and ACH.</ns1:t>
            </ns1:r>
            <ns1:endParaRPr sz="3200" u="sng">
              <ns1:solidFill>
                <ns1:schemeClr val="dk2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215900" lvl="0" marL="342900" marR="0" rtl="0" algn="l"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000"/>
              <ns1:buFont typeface="Arial"/>
              <ns1:buNone/>
            </ns1:pPr>
            <ns1:r>
              <ns1:t>1D Lumped-Parameter ODE Thermal Solver: Real-time indoor temperature curves, heat loss breakdown &amp; ASHRAE 55 comfort.</ns1:t>
            </ns1:r>
            <ns1:endParaRPr sz="2000" u="sng">
              <ns1:solidFill>
                <ns1:schemeClr val="dk2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215900" lvl="0" marL="342900" marR="0" rtl="0" algn="l"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000"/>
              <ns1:buFont typeface="Arial"/>
              <ns1:buNone/>
            </ns1:pPr>
            <ns1:r>
              <ns1:t>Integrated 3D Transient FEA Structural Validator: ANSYS APDL solver mapping 3D mesh geometry.</ns1:t>
            </ns1:r>
            <ns1:endParaRPr sz="2000" u="sng">
              <ns1:solidFill>
                <ns1:schemeClr val="dk2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42900" lvl="0" marL="342900" marR="0" rtl="0" algn="just"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800"/>
              <ns1:buFont typeface="Arial"/>
              <ns1:buChar char="•"/>
            </ns1:pPr>
            <ns1:r>
              <ns1:rPr lang="en-US" sz="2800">
                <ns1:solidFill>
                  <ns1:schemeClr val="dk1"/>
                </ns1:solidFill>
                <ns1:latin typeface="Arial"/>
                <ns1:ea typeface="Arial"/>
                <ns1:cs typeface="Arial"/>
                <ns1:sym typeface="Arial"/>
              </ns1:rPr>
              <ns1:t>Real-Time Housing Benchmark: Dynamic side-by-side comparison against traditional uninsulated mud shelters.</ns1:t>
            </ns1:r>
            <ns1:endParaRPr/>
          </ns1:p>
          <ns1:p>
            <ns1:pPr indent="-342900" lvl="0" marL="342900" marR="0" rtl="0" algn="just"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800"/>
              <ns1:buFont typeface="Arial"/>
              <ns1:buChar char="•"/>
            </ns1:pPr>
            <ns1:r>
              <ns1:rPr lang="en-US" sz="2800">
                <ns1:solidFill>
                  <ns1:schemeClr val="dk1"/>
                </ns1:solidFill>
                <ns1:latin typeface="Arial"/>
                <ns1:ea typeface="Arial"/>
                <ns1:cs typeface="Arial"/>
                <ns1:sym typeface="Arial"/>
              </ns1:rPr>
              <ns1:t> How it addresses the problem</ns1:t>
            </ns1:r>
            <ns1:endParaRPr/>
          </ns1:p>
          <ns1:p>
            <ns1:pPr indent="-342900" lvl="0" marL="342900" marR="0" rtl="0" algn="just"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800"/>
              <ns1:buFont typeface="Arial"/>
              <ns1:buChar char="•"/>
            </ns1:pPr>
            <ns1:r>
              <ns1:rPr lang="en-US" sz="2800">
                <ns1:solidFill>
                  <ns1:schemeClr val="dk1"/>
                </ns1:solidFill>
                <ns1:latin typeface="Arial"/>
                <ns1:ea typeface="Arial"/>
                <ns1:cs typeface="Arial"/>
                <ns1:sym typeface="Arial"/>
              </ns1:rPr>
              <ns1:t>Innovation and uniqueness of the solution </ns1:t>
            </ns1:r>
            <ns1:endParaRPr/>
          </ns1:p>
        </ns0:txBody>
      </ns0:sp>
      <ns0:sp>
        <ns0:nvSpPr>
          <ns0:cNvPr id="103" name="Google Shape;103;p2"/>
          <ns0:cNvSpPr txBox="1"/>
          <ns0:nvPr>
            <ns0:ph idx="12" type="sldNum"/>
          </ns0:nvPr>
        </ns0:nvSpPr>
        <ns0:spPr>
          <ns1:xfrm>
            <ns1:off x="8737600" y="6356353"/>
            <ns1:ext cx="2844800" cy="365125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rtl="0" algn="r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rPr b="1" lang="en-US">
                <ns1:solidFill>
                  <ns1:schemeClr val="lt1"/>
                </ns1:solidFill>
              </ns1:rPr>
              <ns1:t>‹#›</ns1:t>
            </ns1:fld>
            <ns1:endParaRPr b="1">
              <ns1:solidFill>
                <ns1:schemeClr val="lt1"/>
              </ns1:solidFill>
            </ns1:endParaRPr>
          </ns1:p>
        </ns0:txBody>
      </ns0:sp>
      <ns0:sp>
        <ns0:nvSpPr>
          <ns0:cNvPr id="104" name="Google Shape;104;p2"/>
          <ns0:cNvSpPr txBox="1"/>
          <ns0:nvPr>
            <ns0:ph idx="11" type="ftr"/>
          </ns0:nvPr>
        </ns0:nvSpPr>
        <ns0:spPr>
          <ns1:xfrm>
            <ns1:off x="4648200" y="6356353"/>
            <ns1:ext cx="3204000" cy="365125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-US">
                <ns1:solidFill>
                  <ns1:schemeClr val="lt1"/>
                </ns1:solidFill>
              </ns1:rPr>
              <ns1:t>@SIH Idea submission- Template</ns1:t>
            </ns1:r>
            <ns1:endParaRPr>
              <ns1:solidFill>
                <ns1:schemeClr val="lt1"/>
              </ns1:solidFill>
            </ns1:endParaRPr>
          </ns1:p>
        </ns0:txBody>
      </ns0:sp>
      <ns0:sp>
        <ns0:nvSpPr>
          <ns0:cNvPr descr="Your startup LOGO" id="105" name="Google Shape;105;p2"/>
          <ns0:cNvSpPr/>
          <ns0:nvPr/>
        </ns0:nvSpPr>
        <ns0:spPr>
          <ns1:xfrm>
            <ns1:off x="329773" y="252246"/>
            <ns1:ext cx="1251857" cy="807334"/>
          </ns1:xfrm>
          <ns1:prstGeom prst="ellipse">
            <ns1:avLst/>
          </ns1:prstGeom>
          <ns1:solidFill>
            <ns1:schemeClr val="lt1"/>
          </ns1:solidFill>
          <ns1:ln cap="flat" cmpd="sng" w="25400">
            <ns1:solidFill>
              <ns1:schemeClr val="accent4"/>
            </ns1:solidFill>
            <ns1:prstDash val="solid"/>
            <ns1:round/>
            <ns1:headEnd len="sm" w="sm" type="none"/>
            <ns1:tailEnd len="sm" w="sm" type="none"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-US"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rPr>
              <ns1:t>Your Team Name</ns1:t>
            </ns1: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pic>
        <ns0:nvPicPr>
          <ns0:cNvPr id="106" name="Google Shape;106;p2"/>
          <ns0:cNvPicPr preferRelativeResize="0"/>
          <ns0:nvPr/>
        </ns0:nvPicPr>
        <ns0:blipFill rotWithShape="1">
          <ns1:blip ns2:embed="rId3">
            <ns1:alphaModFix/>
          </ns1:blip>
          <ns1:srcRect b="0" l="0" r="0" t="0"/>
          <ns1:stretch/>
        </ns0:blipFill>
        <ns0:spPr>
          <ns1:xfrm>
            <ns1:off x="10150401" y="0"/>
            <ns1:ext cx="2038349" cy="962474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07" name="Google Shape;107;p2" title="ChatGPT Image Aug 30, 2026, 01_33_15 PM.png"/>
          <ns0:cNvPicPr preferRelativeResize="0"/>
          <ns0:nvPr/>
        </ns0:nvPicPr>
        <ns0:blipFill>
          <ns1:blip ns2:embed="rId4">
            <ns1:alphaModFix/>
          </ns1:blip>
          <ns1:stretch>
            <ns1:fillRect/>
          </ns1:stretch>
        </ns0:blipFill>
        <ns0:spPr>
          <ns1:xfrm>
            <ns1:off x="3239" y="0"/>
            <ns1:ext cx="12185523" cy="6858001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08" name="Google Shape;108;p2" title="ChatGPT Image Aug 31, 2026, 02_34_04 PM.png"/>
          <ns0:cNvPicPr preferRelativeResize="0"/>
          <ns0:nvPr/>
        </ns0:nvPicPr>
        <ns0:blipFill>
          <ns1:blip ns2:embed="rId5">
            <ns1:alphaModFix/>
          </ns1:blip>
          <ns1:stretch>
            <ns1:fillRect/>
          </ns1:stretch>
        </ns0:blipFill>
        <ns0:spPr>
          <ns1:xfrm>
            <ns1:off x="3250" y="-98100"/>
            <ns1:ext cx="1339200" cy="1339200"/>
          </ns1:xfrm>
          <ns1:prstGeom prst="rect">
            <ns1:avLst/>
          </ns1:prstGeom>
          <ns1:noFill/>
          <ns1:ln>
            <ns1:noFill/>
          </ns1:ln>
        </ns0:spPr>
      </ns0:pic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13" name="Shape 113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14" name="Google Shape;114;p3"/>
          <ns0:cNvSpPr/>
          <ns0:nvPr/>
        </ns0:nvSpPr>
        <ns0:spPr>
          <ns1:xfrm>
            <ns1:off x="0" y="6354762"/>
            <ns1:ext cx="12191999" cy="503238"/>
          </ns1:xfrm>
          <ns1:prstGeom prst="rect">
            <ns1:avLst/>
          </ns1:prstGeom>
          <ns1:solidFill>
            <ns1:srgbClr val="0070C0"/>
          </ns1:solidFill>
          <ns1:ln>
            <ns1:noFill/>
          </ns1:ln>
          <ns1:effectLst>
            <ns1:outerShdw rotWithShape="0" dir="5400000" dist="23000">
              <ns1:srgbClr val="808080">
                <ns1:alpha val="34902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>Technical Architecture &amp; Physics Methodology</ns1:t>
            </ns1:r>
            <ns1:endParaRPr sz="1800">
              <ns1:solidFill>
                <ns1:srgbClr val="953734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15" name="Google Shape;115;p3"/>
          <ns0:cNvSpPr txBox="1"/>
          <ns0:nvPr>
            <ns0:ph type="title"/>
          </ns0:nvPr>
        </ns0:nvSpPr>
        <ns0:spPr>
          <ns1:xfrm>
            <ns1:off x="609600" y="-47625"/>
            <ns1:ext cx="10972800" cy="11430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-US" sz="1400">
                <ns1:solidFill>
                  <ns1:srgbClr val="000000"/>
                </ns1:solidFill>
                <ns1:latin typeface="Arial"/>
                <ns1:ea typeface="Arial"/>
                <ns1:cs typeface="Arial"/>
                <ns1:sym typeface="Arial"/>
              </ns1:rPr>
              <ns1:t>Frontend Stack: React 18, Vite, Three.js / React Three Fiber (3D Envelope Canvas), Plotly.js, Lucide Icons.</ns1:t>
            </ns1:r>
            <ns1:endParaRPr sz="1400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116" name="Google Shape;116;p3"/>
          <ns0:cNvSpPr txBox="1"/>
          <ns0:nvPr/>
        </ns0:nvSpPr>
        <ns0:spPr>
          <ns1:xfrm>
            <ns1:off x="609600" y="2533653"/>
            <ns1:ext cx="9385300" cy="1815882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45700" lIns="91425" spcFirstLastPara="1" rIns="91425" wrap="square" tIns="45700">
            <ns1:spAutoFit/>
          </ns1:bodyPr>
          <ns1:lstStyle/>
          <ns1:p>
            <ns1:pPr indent="-342900" lvl="0" marL="342900" marR="0" rtl="0" algn="just"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800"/>
              <ns1:buFont typeface="Arial"/>
              <ns1:buChar char="•"/>
            </ns1:pPr>
            <ns1:r>
              <ns1:rPr lang="en-US" sz="2800">
                <ns1:solidFill>
                  <ns1:schemeClr val="dk1"/>
                </ns1:solidFill>
                <ns1:latin typeface="Arial"/>
                <ns1:ea typeface="Arial"/>
                <ns1:cs typeface="Arial"/>
                <ns1:sym typeface="Arial"/>
              </ns1:rPr>
              <ns1:t>Backend &amp; Physics Engine: FastAPI (Python), SciPy (solve_ivp ODE Solver), NumPy, PyANSYS APDL Framework.</ns1:t>
            </ns1:r>
            <ns1:endParaRPr/>
          </ns1:p>
          <ns1:p>
            <ns1:pPr indent="-342900" lvl="0" marL="342900" marR="0" rtl="0" algn="just"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2800"/>
              <ns1:buFont typeface="Arial"/>
              <ns1:buChar char="•"/>
            </ns1:pPr>
            <ns1:r>
              <ns1:rPr lang="en-US" sz="2800">
                <ns1:solidFill>
                  <ns1:schemeClr val="dk1"/>
                </ns1:solidFill>
                <ns1:latin typeface="Arial"/>
                <ns1:ea typeface="Arial"/>
                <ns1:cs typeface="Arial"/>
                <ns1:sym typeface="Arial"/>
              </ns1:rPr>
              <ns1:t>2-Node RC Thermal Network: Calculates heat balance between indoor air node (Tin) and envelope mass node (Tenv).</ns1:t>
            </ns1:r>
            <ns1:endParaRPr/>
          </ns1:p>
        </ns0:txBody>
      </ns0:sp>
      <ns0:sp>
        <ns0:nvSpPr>
          <ns0:cNvPr id="117" name="Google Shape;117;p3"/>
          <ns0:cNvSpPr txBox="1"/>
          <ns0:nvPr>
            <ns0:ph idx="12" type="sldNum"/>
          </ns0:nvPr>
        </ns0:nvSpPr>
        <ns0:spPr>
          <ns1:xfrm>
            <ns1:off x="8737600" y="6356353"/>
            <ns1:ext cx="2844800" cy="365125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rtl="0" algn="r">
              <ns1:spcBef>
                <ns1:spcPts val="0"/>
              </ns1:spcBef>
              <ns1:spcAft>
                <ns1:spcPts val="0"/>
              </ns1:spcAft>
              <ns1:buNone/>
            </ns1:pPr>
            <ns1:fld id="{00000000-1234-1234-1234-123412341234}" type="slidenum">
              <ns1:rPr b="1" lang="en-US">
                <ns1:solidFill>
                  <ns1:schemeClr val="lt1"/>
                </ns1:solidFill>
              </ns1:rPr>
              <ns1:t>Solar Raytracing &amp; Sol-Air Model: Computes hourly solar irradiance (Isouth) and Sol-Air temperatures (Tsol-air).</ns1:t>
            </ns1:fld>
            <ns1:endParaRPr b="1">
              <ns1:solidFill>
                <ns1:schemeClr val="lt1"/>
              </ns1:solidFill>
            </ns1:endParaRPr>
          </ns1:p>
        </ns0:txBody>
      </ns0:sp>
      <ns0:sp>
        <ns0:nvSpPr>
          <ns0:cNvPr id="118" name="Google Shape;118;p3"/>
          <ns0:cNvSpPr txBox="1"/>
          <ns0:nvPr>
            <ns0:ph idx="11" type="ftr"/>
          </ns0:nvPr>
        </ns0:nvSpPr>
        <ns0:spPr>
          <ns1:xfrm>
            <ns1:off x="4648200" y="6356353"/>
            <ns1:ext cx="3204000" cy="365125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-US">
                <ns1:solidFill>
                  <ns1:schemeClr val="lt1"/>
                </ns1:solidFill>
              </ns1:rPr>
              <ns1:t>Decoupled Hybrid Architecture: Instantaneous 1D ODE solver for live UI tuning paired with background 3D FEA.</ns1:t>
            </ns1:r>
            <ns1:endParaRPr>
              <ns1:solidFill>
                <ns1:schemeClr val="lt1"/>
              </ns1:solidFill>
            </ns1:endParaRPr>
          </ns1:p>
        </ns0:txBody>
      </ns0:sp>
      <ns0:sp>
        <ns0:nvSpPr>
          <ns0:cNvPr descr="Your startup LOGO" id="119" name="Google Shape;119;p3"/>
          <ns0:cNvSpPr/>
          <ns0:nvPr/>
        </ns0:nvSpPr>
        <ns0:spPr>
          <ns1:xfrm>
            <ns1:off x="329773" y="252246"/>
            <ns1:ext cx="1251857" cy="807334"/>
          </ns1:xfrm>
          <ns1:prstGeom prst="ellipse">
            <ns1:avLst/>
          </ns1:prstGeom>
          <ns1:solidFill>
            <ns1:schemeClr val="lt1"/>
          </ns1:solidFill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-US"/>
              <ns1:t>Your Team Name</ns1:t>
            </ns1:r>
            <ns1:endParaRPr/>
          </ns1:p>
        </ns0:txBody>
      </ns0:sp>
      <ns0:pic>
        <ns0:nvPicPr>
          <ns0:cNvPr id="120" name="Google Shape;120;p3"/>
          <ns0:cNvPicPr preferRelativeResize="0"/>
          <ns0:nvPr/>
        </ns0:nvPicPr>
        <ns0:blipFill rotWithShape="1">
          <ns1:blip ns2:embed="rId3">
            <ns1:alphaModFix/>
          </ns1:blip>
          <ns1:srcRect b="0" l="0" r="0" t="0"/>
          <ns1:stretch/>
        </ns0:blipFill>
        <ns0:spPr>
          <ns1:xfrm>
            <ns1:off x="9780086" y="1500"/>
            <ns1:ext cx="2249850" cy="1062337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21" name="Google Shape;121;p3"/>
          <ns0:cNvPicPr preferRelativeResize="0"/>
          <ns0:nvPr/>
        </ns0:nvPicPr>
        <ns0:blipFill rotWithShape="1">
          <ns1:blip ns2:embed="rId4">
            <ns1:alphaModFix/>
          </ns1:blip>
          <ns1:srcRect b="1019" l="0" r="0" t="1019"/>
          <ns1:stretch/>
        </ns0:blipFill>
        <ns0:spPr>
          <ns1:xfrm>
            <ns1:off x="0" y="1500"/>
            <ns1:ext cx="12192000" cy="6858000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22" name="Google Shape;122;p3" title="ChatGPT Image Aug 31, 2026, 02_34_04 PM.png"/>
          <ns0:cNvPicPr preferRelativeResize="0"/>
          <ns0:nvPr/>
        </ns0:nvPicPr>
        <ns0:blipFill>
          <ns1:blip ns2:embed="rId5">
            <ns1:alphaModFix/>
          </ns1:blip>
          <ns1:stretch>
            <ns1:fillRect/>
          </ns1:stretch>
        </ns0:blipFill>
        <ns0:spPr>
          <ns1:xfrm>
            <ns1:off x="47763" y="-129600"/>
            <ns1:ext cx="1815874" cy="1815874"/>
          </ns1:xfrm>
          <ns1:prstGeom prst="rect">
            <ns1:avLst/>
          </ns1:prstGeom>
          <ns1:noFill/>
          <ns1:ln>
            <ns1:noFill/>
          </ns1:ln>
        </ns0:spPr>
      </ns0:pic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27" name="Shape 127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28" name="Google Shape;128;p4"/>
          <ns0:cNvSpPr/>
          <ns0:nvPr/>
        </ns0:nvSpPr>
        <ns0:spPr>
          <ns1:xfrm>
            <ns1:off x="0" y="6354762"/>
            <ns1:ext cx="12191999" cy="503238"/>
          </ns1:xfrm>
          <ns1:prstGeom prst="rect">
            <ns1:avLst/>
          </ns1:prstGeom>
          <ns1:solidFill>
            <ns1:srgbClr val="0070C0"/>
          </ns1:solidFill>
          <ns1:ln>
            <ns1:noFill/>
          </ns1:ln>
          <ns1:effectLst>
            <ns1:outerShdw rotWithShape="0" dir="5400000" dist="23000">
              <ns1:srgbClr val="808080">
                <ns1:alpha val="34902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1800"/>
              <ns1:buFont typeface="Calibri"/>
              <ns1:buNone/>
            </ns1:pPr>
            <ns1:r>
              <ns1:t>Feasibility, Risk Analysis &amp; Mitigation</ns1:t>
            </ns1:r>
            <ns1:endParaRPr b="0" i="0" sz="1800" u="none" cap="none" strike="noStrike">
              <ns1:solidFill>
                <ns1:srgbClr val="953734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29" name="Google Shape;129;p4"/>
          <ns0:cNvSpPr txBox="1"/>
          <ns0:nvPr>
            <ns0:ph type="title"/>
          </ns0:nvPr>
        </ns0:nvSpPr>
        <ns0:spPr>
          <ns1:xfrm>
            <ns1:off x="609600" y="-47625"/>
            <ns1:ext cx="10972800" cy="11430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lang="en-US" sz="3600">
                <ns1:latin typeface="Times New Roman"/>
                <ns1:ea typeface="Times New Roman"/>
                <ns1:cs typeface="Times New Roman"/>
                <ns1:sym typeface="Times New Roman"/>
              </ns1:rPr>
              <ns1:t>High Technical Feasibility: Pure web-based architecture running transient ODE solvers in &lt;50ms without client setup.</ns1:t>
            </ns1:r>
            <ns1:endParaRPr/>
          </ns1:p>
        </ns0:txBody>
      </ns0:sp>
      <ns0:sp>
        <ns0:nvSpPr>
          <ns0:cNvPr id="130" name="Google Shape;130;p4"/>
          <ns0:cNvSpPr txBox="1"/>
          <ns0:nvPr/>
        </ns0:nvSpPr>
        <ns0:spPr>
          <ns1:xfrm>
            <ns1:off x="609600" y="2533653"/>
            <ns1:ext cx="9385300" cy="1384995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45700" lIns="91425" spcFirstLastPara="1" rIns="91425" wrap="square" tIns="45700">
            <ns1:spAutoFit/>
          </ns1:bodyPr>
          <ns1:lstStyle/>
          <ns1:p>
            <ns1:pPr indent="-342900" lvl="0" marL="342900" marR="0" rtl="0" algn="just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000000"/>
              </ns1:buClr>
              <ns1:buSzPts val="2800"/>
              <ns1:buFont typeface="Arial"/>
              <ns1:buChar char="•"/>
            </ns1:pPr>
            <ns1:r>
              <ns1:rPr lang="en-US" sz="2800">
                <ns1:solidFill>
                  <ns1:srgbClr val="000000"/>
                </ns1:solidFill>
                <ns1:latin typeface="Arial"/>
                <ns1:ea typeface="Arial"/>
                <ns1:cs typeface="Arial"/>
                <ns1:sym typeface="Arial"/>
              </ns1:rPr>
              <ns1:t>Operational Viability: Custom-tailored for defense forces and local communities in high-altitude cold-arid regions.</ns1:t>
            </ns1:r>
            <ns1:endParaRPr b="0" i="0" sz="2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42900" lvl="0" marL="342900" marR="0" rtl="0" algn="just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000000"/>
              </ns1:buClr>
              <ns1:buSzPts val="2800"/>
              <ns1:buFont typeface="Arial"/>
              <ns1:buChar char="•"/>
            </ns1:pPr>
            <ns1:r>
              <ns1:rPr lang="en-US" sz="2800">
                <ns1:solidFill>
                  <ns1:srgbClr val="000000"/>
                </ns1:solidFill>
                <ns1:latin typeface="Arial"/>
                <ns1:ea typeface="Arial"/>
                <ns1:cs typeface="Arial"/>
                <ns1:sym typeface="Arial"/>
              </ns1:rPr>
              <ns1:t>Key Challenge (3D FEA Solve Time): 3D structural mesh simulation normally requires hours and workstation licenses.</ns1:t>
            </ns1:r>
            <ns1:endParaRPr/>
          </ns1:p>
          <ns1:p>
            <ns1:pPr indent="-342900" lvl="0" marL="342900" marR="0" rtl="0" algn="just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000000"/>
              </ns1:buClr>
              <ns1:buSzPts val="2800"/>
              <ns1:buFont typeface="Arial"/>
              <ns1:buChar char="•"/>
            </ns1:pPr>
            <ns1:r>
              <ns1:rPr b="0" i="0" lang="en-US" sz="2800" u="none" cap="none" strike="noStrike">
                <ns1:solidFill>
                  <ns1:srgbClr val="000000"/>
                </ns1:solidFill>
                <ns1:latin typeface="Arial"/>
                <ns1:ea typeface="Arial"/>
                <ns1:cs typeface="Arial"/>
                <ns1:sym typeface="Arial"/>
              </ns1:rPr>
              <ns1:t>Mitigation Strategy: Fast 1D solver provides immediate real-time feedback while background runner executes ANSYS 3D FEA.</ns1:t>
            </ns1:r>
            <ns1:r>
              <ns1:rPr b="0" i="0" lang="en-US" sz="2800" u="none" cap="none" strike="noStrike">
                <ns1:solidFill>
                  <ns1:srgbClr val="000000"/>
                </ns1:solidFill>
                <ns1:latin typeface="Arial"/>
                <ns1:ea typeface="Arial"/>
                <ns1:cs typeface="Arial"/>
                <ns1:sym typeface="Arial"/>
              </ns1:rPr>
              <ns1:t/>
            </ns1:r>
            <ns1:endParaRPr b="0" i="0" sz="2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131" name="Google Shape;131;p4"/>
          <ns0:cNvSpPr txBox="1"/>
          <ns0:nvPr>
            <ns0:ph idx="12" type="sldNum"/>
          </ns0:nvPr>
        </ns0:nvSpPr>
        <ns0:spPr>
          <ns1:xfrm>
            <ns1:off x="8737600" y="6356353"/>
            <ns1:ext cx="2844800" cy="365125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FFFFFF"/>
              </ns1:buClr>
              <ns1:buSzPts val="1200"/>
              <ns1:buFont typeface="Oswald"/>
              <ns1:buNone/>
            </ns1:pPr>
            <ns1:fld id="{00000000-1234-1234-1234-123412341234}" type="slidenum">
              <ns1:rPr b="1" i="0" lang="en-US" sz="1200" u="none" cap="none" strike="noStrike">
                <ns1:solidFill>
                  <ns1:srgbClr val="FFFFFF"/>
                </ns1:solidFill>
                <ns1:latin typeface="Oswald"/>
                <ns1:ea typeface="Oswald"/>
                <ns1:cs typeface="Oswald"/>
                <ns1:sym typeface="Oswald"/>
              </ns1:rPr>
              <ns1:t>‹#›</ns1:t>
            </ns1:fld>
            <ns1:endParaRPr b="1" i="0" sz="1200" u="none" cap="none" strike="noStrike">
              <ns1:solidFill>
                <ns1:srgbClr val="FFFFFF"/>
              </ns1:solidFill>
              <ns1:latin typeface="Oswald"/>
              <ns1:ea typeface="Oswald"/>
              <ns1:cs typeface="Oswald"/>
              <ns1:sym typeface="Oswald"/>
            </ns1:endParaRPr>
          </ns1:p>
        </ns0:txBody>
      </ns0:sp>
      <ns0:sp>
        <ns0:nvSpPr>
          <ns0:cNvPr id="132" name="Google Shape;132;p4"/>
          <ns0:cNvSpPr txBox="1"/>
          <ns0:nvPr>
            <ns0:ph idx="11" type="ftr"/>
          </ns0:nvPr>
        </ns0:nvSpPr>
        <ns0:spPr>
          <ns1:xfrm>
            <ns1:off x="4648200" y="6356353"/>
            <ns1:ext cx="3204000" cy="365125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FFFFFF"/>
              </ns1:buClr>
              <ns1:buSzPts val="1200"/>
              <ns1:buFont typeface="Oswald"/>
              <ns1:buNone/>
            </ns1:pPr>
            <ns1:r>
              <ns1:rPr b="0" i="0" lang="en-US" sz="1200" u="none" cap="none" strike="noStrike">
                <ns1:solidFill>
                  <ns1:srgbClr val="FFFFFF"/>
                </ns1:solidFill>
                <ns1:latin typeface="Oswald"/>
                <ns1:ea typeface="Oswald"/>
                <ns1:cs typeface="Oswald"/>
                <ns1:sym typeface="Oswald"/>
              </ns1:rPr>
              <ns1:t>@SIH Idea submission- Template</ns1:t>
            </ns1:r>
            <ns1:endParaRPr b="0" i="0" sz="1200" u="none" cap="none" strike="noStrike">
              <ns1:solidFill>
                <ns1:srgbClr val="FFFFFF"/>
              </ns1:solidFill>
              <ns1:latin typeface="Oswald"/>
              <ns1:ea typeface="Oswald"/>
              <ns1:cs typeface="Oswald"/>
              <ns1:sym typeface="Oswald"/>
            </ns1:endParaRPr>
          </ns1:p>
        </ns0:txBody>
      </ns0:sp>
      <ns0:sp>
        <ns0:nvSpPr>
          <ns0:cNvPr descr="Your startup LOGO" id="133" name="Google Shape;133;p4"/>
          <ns0:cNvSpPr/>
          <ns0:nvPr/>
        </ns0:nvSpPr>
        <ns0:spPr>
          <ns1:xfrm>
            <ns1:off x="329773" y="252246"/>
            <ns1:ext cx="1251857" cy="807334"/>
          </ns1:xfrm>
          <ns1:prstGeom prst="ellipse">
            <ns1:avLst/>
          </ns1:prstGeom>
          <ns1:solidFill>
            <ns1:schemeClr val="lt1"/>
          </ns1:solidFill>
          <ns1:ln cap="flat" cmpd="sng" w="25400">
            <ns1:solidFill>
              <ns1:schemeClr val="accent4"/>
            </ns1:solidFill>
            <ns1:prstDash val="solid"/>
            <ns1:round/>
            <ns1:headEnd len="sm" w="sm" type="none"/>
            <ns1:tailEnd len="sm" w="sm" type="none"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-US"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rPr>
              <ns1:t>Your Team Name</ns1:t>
            </ns1: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pic>
        <ns0:nvPicPr>
          <ns0:cNvPr id="134" name="Google Shape;134;p4"/>
          <ns0:cNvPicPr preferRelativeResize="0"/>
          <ns0:nvPr/>
        </ns0:nvPicPr>
        <ns0:blipFill rotWithShape="1">
          <ns1:blip ns2:embed="rId3">
            <ns1:alphaModFix/>
          </ns1:blip>
          <ns1:srcRect b="0" l="0" r="0" t="0"/>
          <ns1:stretch/>
        </ns0:blipFill>
        <ns0:spPr>
          <ns1:xfrm>
            <ns1:off x="9780086" y="1500"/>
            <ns1:ext cx="2249850" cy="1062337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35" name="Google Shape;135;p4"/>
          <ns0:cNvPicPr preferRelativeResize="0"/>
          <ns0:nvPr/>
        </ns0:nvPicPr>
        <ns0:blipFill rotWithShape="1">
          <ns1:blip ns2:embed="rId4">
            <ns1:alphaModFix/>
          </ns1:blip>
          <ns1:srcRect b="0" l="328" r="338" t="0"/>
          <ns1:stretch/>
        </ns0:blipFill>
        <ns0:spPr>
          <ns1:xfrm>
            <ns1:off x="0" y="-47625"/>
            <ns1:ext cx="12191999" cy="6903939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36" name="Google Shape;136;p4" title="ChatGPT Image Aug 31, 2026, 02_34_04 PM.png"/>
          <ns0:cNvPicPr preferRelativeResize="0"/>
          <ns0:nvPr/>
        </ns0:nvPicPr>
        <ns0:blipFill>
          <ns1:blip ns2:embed="rId5">
            <ns1:alphaModFix/>
          </ns1:blip>
          <ns1:stretch>
            <ns1:fillRect/>
          </ns1:stretch>
        </ns0:blipFill>
        <ns0:spPr>
          <ns1:xfrm>
            <ns1:off x="0" y="-270000"/>
            <ns1:ext cx="1501201" cy="1501201"/>
          </ns1:xfrm>
          <ns1:prstGeom prst="rect">
            <ns1:avLst/>
          </ns1:prstGeom>
          <ns1:noFill/>
          <ns1:ln>
            <ns1:noFill/>
          </ns1:ln>
        </ns0:spPr>
      </ns0:pic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41" name="Shape 141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42" name="Google Shape;142;p5"/>
          <ns0:cNvSpPr/>
          <ns0:nvPr/>
        </ns0:nvSpPr>
        <ns0:spPr>
          <ns1:xfrm>
            <ns1:off x="0" y="6354762"/>
            <ns1:ext cx="12191999" cy="503238"/>
          </ns1:xfrm>
          <ns1:prstGeom prst="rect">
            <ns1:avLst/>
          </ns1:prstGeom>
          <ns1:solidFill>
            <ns1:srgbClr val="0070C0"/>
          </ns1:solidFill>
          <ns1:ln>
            <ns1:noFill/>
          </ns1:ln>
          <ns1:effectLst>
            <ns1:outerShdw rotWithShape="0" dir="5400000" dist="23000">
              <ns1:srgbClr val="808080">
                <ns1:alpha val="34902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1800"/>
              <ns1:buFont typeface="Calibri"/>
              <ns1:buNone/>
            </ns1:pPr>
            <ns1:r>
              <ns1:t>Socio-Economic &amp; Environmental Impact</ns1:t>
            </ns1:r>
            <ns1:endParaRPr b="0" i="0" sz="1800" u="none" cap="none" strike="noStrike">
              <ns1:solidFill>
                <ns1:srgbClr val="953734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43" name="Google Shape;143;p5"/>
          <ns0:cNvSpPr txBox="1"/>
          <ns0:nvPr>
            <ns0:ph type="title"/>
          </ns0:nvPr>
        </ns0:nvSpPr>
        <ns0:spPr>
          <ns1:xfrm>
            <ns1:off x="609600" y="-47625"/>
            <ns1:ext cx="10972800" cy="11430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lang="en-US" sz="3600">
                <ns1:latin typeface="Times New Roman"/>
                <ns1:ea typeface="Times New Roman"/>
                <ns1:cs typeface="Times New Roman"/>
                <ns1:sym typeface="Times New Roman"/>
              </ns1:rPr>
              <ns1:t>Fuel &amp; CO2 Reduction: Saves up to 1,500 Liters of kerosene per shelter annually (~3.2 Tons CO2 prevented per building).</ns1:t>
            </ns1:r>
            <ns1:endParaRPr/>
          </ns1:p>
        </ns0:txBody>
      </ns0:sp>
      <ns0:sp>
        <ns0:nvSpPr>
          <ns0:cNvPr id="144" name="Google Shape;144;p5"/>
          <ns0:cNvSpPr txBox="1"/>
          <ns0:nvPr/>
        </ns0:nvSpPr>
        <ns0:spPr>
          <ns1:xfrm>
            <ns1:off x="609600" y="2533653"/>
            <ns1:ext cx="9385300" cy="1384995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45700" lIns="91425" spcFirstLastPara="1" rIns="91425" wrap="square" tIns="45700">
            <ns1:spAutoFit/>
          </ns1:bodyPr>
          <ns1:lstStyle/>
          <ns1:p>
            <ns1:pPr indent="-342900" lvl="0" marL="342900" marR="0" rtl="0" algn="just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000000"/>
              </ns1:buClr>
              <ns1:buSzPts val="2800"/>
              <ns1:buFont typeface="Arial"/>
              <ns1:buChar char="•"/>
            </ns1:pPr>
            <ns1:r>
              <ns1:rPr b="0" i="0" lang="en-US" sz="2800" u="none" cap="none" strike="noStrike">
                <ns1:solidFill>
                  <ns1:srgbClr val="000000"/>
                </ns1:solidFill>
                <ns1:latin typeface="Arial"/>
                <ns1:ea typeface="Arial"/>
                <ns1:cs typeface="Arial"/>
                <ns1:sym typeface="Arial"/>
              </ns1:rPr>
              <ns1:t>Economic Savings: Saves over ₹1,40,000/year per shelter in heating fuel costs (up to 85% heating bill reduction).</ns1:t>
            </ns1:r>
            <ns1:endParaRPr/>
          </ns1:p>
          <ns1:p>
            <ns1:pPr indent="-342900" lvl="0" marL="342900" marR="0" rtl="0" algn="just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000000"/>
              </ns1:buClr>
              <ns1:buSzPts val="2800"/>
              <ns1:buFont typeface="Arial"/>
              <ns1:buChar char="•"/>
            </ns1:pPr>
            <ns1:r>
              <ns1:rPr lang="en-US" sz="2800">
                <ns1:solidFill>
                  <ns1:srgbClr val="000000"/>
                </ns1:solidFill>
                <ns1:latin typeface="Arial"/>
                <ns1:ea typeface="Arial"/>
                <ns1:cs typeface="Arial"/>
                <ns1:sym typeface="Arial"/>
              </ns1:rPr>
              <ns1:t>Thermal Comfort Guarantee: Provides up to 24 hours/day of ASHRAE 55 thermal comfort (18°C–24°C) in sub-zero winter weather.</ns1:t>
            </ns1:r>
            <ns1:endParaRPr/>
          </ns1:p>
        </ns0:txBody>
      </ns0:sp>
      <ns0:sp>
        <ns0:nvSpPr>
          <ns0:cNvPr id="145" name="Google Shape;145;p5"/>
          <ns0:cNvSpPr txBox="1"/>
          <ns0:nvPr>
            <ns0:ph idx="12" type="sldNum"/>
          </ns0:nvPr>
        </ns0:nvSpPr>
        <ns0:spPr>
          <ns1:xfrm>
            <ns1:off x="8737600" y="6356353"/>
            <ns1:ext cx="2844800" cy="365125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FFFFFF"/>
              </ns1:buClr>
              <ns1:buSzPts val="1200"/>
              <ns1:buFont typeface="Oswald"/>
              <ns1:buNone/>
            </ns1:pPr>
            <ns1:fld id="{00000000-1234-1234-1234-123412341234}" type="slidenum">
              <ns1:rPr b="1" i="0" lang="en-US" sz="1200" u="none" cap="none" strike="noStrike">
                <ns1:solidFill>
                  <ns1:srgbClr val="FFFFFF"/>
                </ns1:solidFill>
                <ns1:latin typeface="Oswald"/>
                <ns1:ea typeface="Oswald"/>
                <ns1:cs typeface="Oswald"/>
                <ns1:sym typeface="Oswald"/>
              </ns1:rPr>
              <ns1:t>Defense Operational Resilience: Eliminates heavy fuel supply chain dependencies in remote high-altitude posts.</ns1:t>
            </ns1:fld>
            <ns1:endParaRPr b="1" i="0" sz="1200" u="none" cap="none" strike="noStrike">
              <ns1:solidFill>
                <ns1:srgbClr val="FFFFFF"/>
              </ns1:solidFill>
              <ns1:latin typeface="Oswald"/>
              <ns1:ea typeface="Oswald"/>
              <ns1:cs typeface="Oswald"/>
              <ns1:sym typeface="Oswald"/>
            </ns1:endParaRPr>
          </ns1:p>
        </ns0:txBody>
      </ns0:sp>
      <ns0:sp>
        <ns0:nvSpPr>
          <ns0:cNvPr id="146" name="Google Shape;146;p5"/>
          <ns0:cNvSpPr txBox="1"/>
          <ns0:nvPr>
            <ns0:ph idx="11" type="ftr"/>
          </ns0:nvPr>
        </ns0:nvSpPr>
        <ns0:spPr>
          <ns1:xfrm>
            <ns1:off x="4648200" y="6356353"/>
            <ns1:ext cx="3204000" cy="365125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FFFFFF"/>
              </ns1:buClr>
              <ns1:buSzPts val="1200"/>
              <ns1:buFont typeface="Oswald"/>
              <ns1:buNone/>
            </ns1:pPr>
            <ns1:r>
              <ns1:rPr b="0" i="0" lang="en-US" sz="1200" u="none" cap="none" strike="noStrike">
                <ns1:solidFill>
                  <ns1:srgbClr val="FFFFFF"/>
                </ns1:solidFill>
                <ns1:latin typeface="Oswald"/>
                <ns1:ea typeface="Oswald"/>
                <ns1:cs typeface="Oswald"/>
                <ns1:sym typeface="Oswald"/>
              </ns1:rPr>
              <ns1:t>@SIH Idea submission- Template</ns1:t>
            </ns1:r>
            <ns1:endParaRPr b="0" i="0" sz="1200" u="none" cap="none" strike="noStrike">
              <ns1:solidFill>
                <ns1:srgbClr val="FFFFFF"/>
              </ns1:solidFill>
              <ns1:latin typeface="Oswald"/>
              <ns1:ea typeface="Oswald"/>
              <ns1:cs typeface="Oswald"/>
              <ns1:sym typeface="Oswald"/>
            </ns1:endParaRPr>
          </ns1:p>
        </ns0:txBody>
      </ns0:sp>
      <ns0:sp>
        <ns0:nvSpPr>
          <ns0:cNvPr descr="Your startup LOGO" id="147" name="Google Shape;147;p5"/>
          <ns0:cNvSpPr/>
          <ns0:nvPr/>
        </ns0:nvSpPr>
        <ns0:spPr>
          <ns1:xfrm>
            <ns1:off x="329773" y="252246"/>
            <ns1:ext cx="1251857" cy="807334"/>
          </ns1:xfrm>
          <ns1:prstGeom prst="ellipse">
            <ns1:avLst/>
          </ns1:prstGeom>
          <ns1:solidFill>
            <ns1:schemeClr val="lt1"/>
          </ns1:solidFill>
          <ns1:ln cap="flat" cmpd="sng" w="25400">
            <ns1:solidFill>
              <ns1:schemeClr val="accent4"/>
            </ns1:solidFill>
            <ns1:prstDash val="solid"/>
            <ns1:round/>
            <ns1:headEnd len="sm" w="sm" type="none"/>
            <ns1:tailEnd len="sm" w="sm" type="none"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-US"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rPr>
              <ns1:t>Your Team Name</ns1:t>
            </ns1: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pic>
        <ns0:nvPicPr>
          <ns0:cNvPr id="148" name="Google Shape;148;p5"/>
          <ns0:cNvPicPr preferRelativeResize="0"/>
          <ns0:nvPr/>
        </ns0:nvPicPr>
        <ns0:blipFill rotWithShape="1">
          <ns1:blip ns2:embed="rId3">
            <ns1:alphaModFix/>
          </ns1:blip>
          <ns1:srcRect b="0" l="0" r="0" t="0"/>
          <ns1:stretch/>
        </ns0:blipFill>
        <ns0:spPr>
          <ns1:xfrm>
            <ns1:off x="9780086" y="1500"/>
            <ns1:ext cx="2249850" cy="1062337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49" name="Google Shape;149;p5" title="ChatGPT Image Aug 30, 2026, 02_10_26 PM.png"/>
          <ns0:cNvPicPr preferRelativeResize="0"/>
          <ns0:nvPr/>
        </ns0:nvPicPr>
        <ns0:blipFill>
          <ns1:blip ns2:embed="rId4">
            <ns1:alphaModFix/>
          </ns1:blip>
          <ns1:stretch>
            <ns1:fillRect/>
          </ns1:stretch>
        </ns0:blipFill>
        <ns0:spPr>
          <ns1:xfrm>
            <ns1:off x="0" y="-3645"/>
            <ns1:ext cx="12191998" cy="6861645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50" name="Google Shape;150;p5" title="ChatGPT Image Aug 31, 2026, 02_34_04 PM.png"/>
          <ns0:cNvPicPr preferRelativeResize="0"/>
          <ns0:nvPr/>
        </ns0:nvPicPr>
        <ns0:blipFill>
          <ns1:blip ns2:embed="rId5">
            <ns1:alphaModFix/>
          </ns1:blip>
          <ns1:stretch>
            <ns1:fillRect/>
          </ns1:stretch>
        </ns0:blipFill>
        <ns0:spPr>
          <ns1:xfrm>
            <ns1:off x="0" y="-134925"/>
            <ns1:ext cx="1317600" cy="1317600"/>
          </ns1:xfrm>
          <ns1:prstGeom prst="rect">
            <ns1:avLst/>
          </ns1:prstGeom>
          <ns1:noFill/>
          <ns1:ln>
            <ns1:noFill/>
          </ns1:ln>
        </ns0:spPr>
      </ns0:pic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55" name="Shape 155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6" name="Google Shape;156;p6"/>
          <ns0:cNvSpPr/>
          <ns0:nvPr/>
        </ns0:nvSpPr>
        <ns0:spPr>
          <ns1:xfrm>
            <ns1:off x="0" y="6354762"/>
            <ns1:ext cx="12191999" cy="503238"/>
          </ns1:xfrm>
          <ns1:prstGeom prst="rect">
            <ns1:avLst/>
          </ns1:prstGeom>
          <ns1:solidFill>
            <ns1:srgbClr val="0070C0"/>
          </ns1:solidFill>
          <ns1:ln>
            <ns1:noFill/>
          </ns1:ln>
          <ns1:effectLst>
            <ns1:outerShdw rotWithShape="0" dir="5400000" dist="23000">
              <ns1:srgbClr val="808080">
                <ns1:alpha val="34902"/>
              </ns1:srgbClr>
            </ns1:outerShdw>
          </ns1:effectLst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chemeClr val="dk1"/>
              </ns1:buClr>
              <ns1:buSzPts val="1800"/>
              <ns1:buFont typeface="Calibri"/>
              <ns1:buNone/>
            </ns1:pPr>
            <ns1:r>
              <ns1:t>Research Base &amp; Engineering Standards</ns1:t>
            </ns1:r>
            <ns1:endParaRPr b="0" i="0" sz="1800" u="none" cap="none" strike="noStrike">
              <ns1:solidFill>
                <ns1:srgbClr val="953734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sp>
        <ns0:nvSpPr>
          <ns0:cNvPr id="157" name="Google Shape;157;p6"/>
          <ns0:cNvSpPr txBox="1"/>
          <ns0:nvPr>
            <ns0:ph type="title"/>
          </ns0:nvPr>
        </ns0:nvSpPr>
        <ns0:spPr>
          <ns1:xfrm>
            <ns1:off x="609600" y="-47625"/>
            <ns1:ext cx="10972800" cy="11430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b="1" lang="en-US" sz="3600">
                <ns1:latin typeface="Times New Roman"/>
                <ns1:ea typeface="Times New Roman"/>
                <ns1:cs typeface="Times New Roman"/>
                <ns1:sym typeface="Times New Roman"/>
              </ns1:rPr>
              <ns1:t>ASHRAE Standard 55: Thermal Environmental Conditions for Human Occupancy (PMV &amp; PPD index models).</ns1:t>
            </ns1:r>
            <ns1:endParaRPr/>
          </ns1:p>
        </ns0:txBody>
      </ns0:sp>
      <ns0:sp>
        <ns0:nvSpPr>
          <ns0:cNvPr id="158" name="Google Shape;158;p6"/>
          <ns0:cNvSpPr txBox="1"/>
          <ns0:nvPr/>
        </ns0:nvSpPr>
        <ns0:spPr>
          <ns1:xfrm>
            <ns1:off x="609600" y="2795263"/>
            <ns1:ext cx="9385300" cy="5232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45700" lIns="91425" spcFirstLastPara="1" rIns="91425" wrap="square" tIns="45700">
            <ns1:spAutoFit/>
          </ns1:bodyPr>
          <ns1:lstStyle/>
          <ns1:p>
            <ns1:pPr indent="-342900" lvl="0" marL="342900" marR="0" rtl="0" algn="just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000000"/>
              </ns1:buClr>
              <ns1:buSzPts val="2800"/>
              <ns1:buFont typeface="Arial"/>
              <ns1:buChar char="•"/>
            </ns1:pPr>
            <ns1:r>
              <ns1:rPr lang="en-US" sz="2800">
                <ns1:solidFill>
                  <ns1:srgbClr val="000000"/>
                </ns1:solidFill>
                <ns1:latin typeface="Arial"/>
                <ns1:ea typeface="Arial"/>
                <ns1:cs typeface="Arial"/>
                <ns1:sym typeface="Arial"/>
              </ns1:rPr>
              <ns1:t>IS 3792: Indian Standard Code of practice for design and construction of shelter/buildings in high-altitude cold regions.</ns1:t>
            </ns1:r>
            <ns1:endParaRPr b="0" i="0" sz="2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159" name="Google Shape;159;p6"/>
          <ns0:cNvSpPr txBox="1"/>
          <ns0:nvPr>
            <ns0:ph idx="12" type="sldNum"/>
          </ns0:nvPr>
        </ns0:nvSpPr>
        <ns0:spPr>
          <ns1:xfrm>
            <ns1:off x="8737600" y="6356353"/>
            <ns1:ext cx="2844800" cy="365125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FFFFFF"/>
              </ns1:buClr>
              <ns1:buSzPts val="1200"/>
              <ns1:buFont typeface="Oswald"/>
              <ns1:buNone/>
            </ns1:pPr>
            <ns1:fld id="{00000000-1234-1234-1234-123412341234}" type="slidenum">
              <ns1:rPr b="1" i="0" lang="en-US" sz="1200" u="none" cap="none" strike="noStrike">
                <ns1:solidFill>
                  <ns1:srgbClr val="FFFFFF"/>
                </ns1:solidFill>
                <ns1:latin typeface="Oswald"/>
                <ns1:ea typeface="Oswald"/>
                <ns1:cs typeface="Oswald"/>
                <ns1:sym typeface="Oswald"/>
              </ns1:rPr>
              <ns1:t>Duffie &amp; Beckman: Solar Engineering of Thermal Processes (Sol-Air temperature &amp; solar radiation geometry).</ns1:t>
            </ns1:fld>
            <ns1:endParaRPr b="1" i="0" sz="1200" u="none" cap="none" strike="noStrike">
              <ns1:solidFill>
                <ns1:srgbClr val="FFFFFF"/>
              </ns1:solidFill>
              <ns1:latin typeface="Oswald"/>
              <ns1:ea typeface="Oswald"/>
              <ns1:cs typeface="Oswald"/>
              <ns1:sym typeface="Oswald"/>
            </ns1:endParaRPr>
          </ns1:p>
        </ns0:txBody>
      </ns0:sp>
      <ns0:sp>
        <ns0:nvSpPr>
          <ns0:cNvPr id="160" name="Google Shape;160;p6"/>
          <ns0:cNvSpPr txBox="1"/>
          <ns0:nvPr>
            <ns0:ph idx="11" type="ftr"/>
          </ns0:nvPr>
        </ns0:nvSpPr>
        <ns0:spPr>
          <ns1:xfrm>
            <ns1:off x="4648200" y="6356353"/>
            <ns1:ext cx="3204000" cy="365125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FFFFFF"/>
              </ns1:buClr>
              <ns1:buSzPts val="1200"/>
              <ns1:buFont typeface="Oswald"/>
              <ns1:buNone/>
            </ns1:pPr>
            <ns1:r>
              <ns1:rPr b="0" i="0" lang="en-US" sz="1200" u="none" cap="none" strike="noStrike">
                <ns1:solidFill>
                  <ns1:srgbClr val="FFFFFF"/>
                </ns1:solidFill>
                <ns1:latin typeface="Oswald"/>
                <ns1:ea typeface="Oswald"/>
                <ns1:cs typeface="Oswald"/>
                <ns1:sym typeface="Oswald"/>
              </ns1:rPr>
              <ns1:t>PyANSYS APDL: Framework documentation for automated finite element thermal analysis.</ns1:t>
            </ns1:r>
            <ns1:endParaRPr b="0" i="0" sz="1200" u="none" cap="none" strike="noStrike">
              <ns1:solidFill>
                <ns1:srgbClr val="FFFFFF"/>
              </ns1:solidFill>
              <ns1:latin typeface="Oswald"/>
              <ns1:ea typeface="Oswald"/>
              <ns1:cs typeface="Oswald"/>
              <ns1:sym typeface="Oswald"/>
            </ns1:endParaRPr>
          </ns1:p>
        </ns0:txBody>
      </ns0:sp>
      <ns0:sp>
        <ns0:nvSpPr>
          <ns0:cNvPr descr="Your startup LOGO" id="161" name="Google Shape;161;p6"/>
          <ns0:cNvSpPr/>
          <ns0:nvPr/>
        </ns0:nvSpPr>
        <ns0:spPr>
          <ns1:xfrm>
            <ns1:off x="329773" y="252246"/>
            <ns1:ext cx="1251857" cy="807334"/>
          </ns1:xfrm>
          <ns1:prstGeom prst="ellipse">
            <ns1:avLst/>
          </ns1:prstGeom>
          <ns1:solidFill>
            <ns1:schemeClr val="lt1"/>
          </ns1:solidFill>
          <ns1:ln cap="flat" cmpd="sng" w="25400">
            <ns1:solidFill>
              <ns1:schemeClr val="accent4"/>
            </ns1:solidFill>
            <ns1:prstDash val="solid"/>
            <ns1:round/>
            <ns1:headEnd len="sm" w="sm" type="none"/>
            <ns1:tailEnd len="sm" w="sm" type="none"/>
          </ns1:ln>
        </ns0:spPr>
        <ns0:txBody>
          <ns1:bodyPr anchorCtr="0" anchor="ctr" bIns="45700" lIns="91425" spcFirstLastPara="1" rIns="91425" wrap="square" tIns="45700">
            <ns1:noAutofit/>
          </ns1:bodyPr>
          <ns1:lstStyle/>
          <ns1:p>
            <ns1:pPr indent="0" lvl="0" marL="0" marR="0" rtl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 lang="en-US" sz="1800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rPr>
              <ns1:t>Your Team Name</ns1:t>
            </ns1:r>
            <ns1:endParaRPr sz="1800">
              <ns1:solidFill>
                <ns1:schemeClr val="dk1"/>
              </ns1:solidFill>
              <ns1:latin typeface="Calibri"/>
              <ns1:ea typeface="Calibri"/>
              <ns1:cs typeface="Calibri"/>
              <ns1:sym typeface="Calibri"/>
            </ns1:endParaRPr>
          </ns1:p>
        </ns0:txBody>
      </ns0:sp>
      <ns0:pic>
        <ns0:nvPicPr>
          <ns0:cNvPr id="162" name="Google Shape;162;p6"/>
          <ns0:cNvPicPr preferRelativeResize="0"/>
          <ns0:nvPr/>
        </ns0:nvPicPr>
        <ns0:blipFill rotWithShape="1">
          <ns1:blip ns2:embed="rId3">
            <ns1:alphaModFix/>
          </ns1:blip>
          <ns1:srcRect b="0" l="0" r="0" t="0"/>
          <ns1:stretch/>
        </ns0:blipFill>
        <ns0:spPr>
          <ns1:xfrm>
            <ns1:off x="9780086" y="1500"/>
            <ns1:ext cx="2249850" cy="1062337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63" name="Google Shape;163;p6" title="ChatGPT Image Aug 30, 2026, 02_31_46 PM.png"/>
          <ns0:cNvPicPr preferRelativeResize="0"/>
          <ns0:nvPr/>
        </ns0:nvPicPr>
        <ns0:blipFill>
          <ns1:blip ns2:embed="rId4">
            <ns1:alphaModFix/>
          </ns1:blip>
          <ns1:stretch>
            <ns1:fillRect/>
          </ns1:stretch>
        </ns0:blipFill>
        <ns0:spPr>
          <ns1:xfrm>
            <ns1:off x="0" y="1500"/>
            <ns1:ext cx="12191998" cy="6861645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64" name="Google Shape;164;p6"/>
          <ns0:cNvPicPr preferRelativeResize="0"/>
          <ns0:nvPr/>
        </ns0:nvPicPr>
        <ns0:blipFill rotWithShape="1">
          <ns1:blip ns2:embed="rId5">
            <ns1:alphaModFix/>
          </ns1:blip>
          <ns1:srcRect b="10" l="0" r="0" t="10"/>
          <ns1:stretch/>
        </ns0:blipFill>
        <ns0:spPr>
          <ns1:xfrm>
            <ns1:off x="574" y="-5"/>
            <ns1:ext cx="12192000" cy="6856328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65" name="Google Shape;165;p6" title="ChatGPT Image Aug 31, 2026, 02_34_04 PM.png"/>
          <ns0:cNvPicPr preferRelativeResize="0"/>
          <ns0:nvPr/>
        </ns0:nvPicPr>
        <ns0:blipFill>
          <ns1:blip ns2:embed="rId6">
            <ns1:alphaModFix/>
          </ns1:blip>
          <ns1:stretch>
            <ns1:fillRect/>
          </ns1:stretch>
        </ns0:blipFill>
        <ns0:spPr>
          <ns1:xfrm>
            <ns1:off x="-794232" y="152771"/>
            <ns1:ext cx="49025" cy="49025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66" name="Google Shape;166;p6" title="Screenshot from 2026-08-31 14-36-07.png"/>
          <ns0:cNvPicPr preferRelativeResize="0"/>
          <ns0:nvPr/>
        </ns0:nvPicPr>
        <ns0:blipFill>
          <ns1:blip ns2:embed="rId7">
            <ns1:alphaModFix/>
          </ns1:blip>
          <ns1:stretch>
            <ns1:fillRect/>
          </ns1:stretch>
        </ns0:blipFill>
        <ns0:spPr>
          <ns1:xfrm>
            <ns1:off x="140974" y="66300"/>
            <ns1:ext cx="1932400" cy="714375"/>
          </ns1:xfrm>
          <ns1:prstGeom prst="rect">
            <ns1:avLst/>
          </ns1:prstGeom>
          <ns1:noFill/>
          <ns1:ln>
            <ns1:noFill/>
          </ns1:ln>
        </ns0:spPr>
      </ns0:pic>
      <ns0:pic>
        <ns0:nvPicPr>
          <ns0:cNvPr id="167" name="Google Shape;167;p6" title="ChatGPT Image Aug 31, 2026, 02_34_04 PM.png"/>
          <ns0:cNvPicPr preferRelativeResize="0"/>
          <ns0:nvPr/>
        </ns0:nvPicPr>
        <ns0:blipFill>
          <ns1:blip ns2:embed="rId6">
            <ns1:alphaModFix/>
          </ns1:blip>
          <ns1:stretch>
            <ns1:fillRect/>
          </ns1:stretch>
        </ns0:blipFill>
        <ns0:spPr>
          <ns1:xfrm>
            <ns1:off x="0" y="0"/>
            <ns1:ext cx="1771200" cy="1771200"/>
          </ns1:xfrm>
          <ns1:prstGeom prst="rect">
            <ns1:avLst/>
          </ns1:prstGeom>
          <ns1:noFill/>
          <ns1:ln>
            <ns1:noFill/>
          </ns1:ln>
        </ns0:spPr>
      </ns0:pic>
    </ns0:spTree>
  </ns0:cSld>
  <ns0:clrMapOvr>
    <ns1:masterClrMapping/>
  </ns0:clrMapOvr>
</ns0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